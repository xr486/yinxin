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image" Target="../media/image8.jpe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0"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jpeg"/><Relationship Id="rId21" Type="http://schemas.openxmlformats.org/officeDocument/2006/relationships/slideLayout" Target="../slideLayouts/slideLayout2.xml"/><Relationship Id="rId20" Type="http://schemas.openxmlformats.org/officeDocument/2006/relationships/image" Target="../media/image40.png"/><Relationship Id="rId2" Type="http://schemas.openxmlformats.org/officeDocument/2006/relationships/image" Target="../media/image22.jpeg"/><Relationship Id="rId19" Type="http://schemas.openxmlformats.org/officeDocument/2006/relationships/image" Target="../media/image39.png"/><Relationship Id="rId18" Type="http://schemas.openxmlformats.org/officeDocument/2006/relationships/image" Target="../media/image38.jpeg"/><Relationship Id="rId17" Type="http://schemas.openxmlformats.org/officeDocument/2006/relationships/image" Target="../media/image37.jpeg"/><Relationship Id="rId16" Type="http://schemas.openxmlformats.org/officeDocument/2006/relationships/image" Target="../media/image36.png"/><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32.jpeg"/><Relationship Id="rId11" Type="http://schemas.openxmlformats.org/officeDocument/2006/relationships/image" Target="../media/image31.jpeg"/><Relationship Id="rId10" Type="http://schemas.openxmlformats.org/officeDocument/2006/relationships/image" Target="../media/image30.jpeg"/><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870585" y="1122680"/>
            <a:ext cx="10535920" cy="2387600"/>
          </a:xfrm>
        </p:spPr>
        <p:txBody>
          <a:bodyPr/>
          <a:p>
            <a:r>
              <a:rPr lang="zh-CN" altLang="en-US"/>
              <a:t>苏州顺帆</a:t>
            </a:r>
            <a:r>
              <a:rPr lang="zh-CN" altLang="en-US"/>
              <a:t>信息科技有限公</a:t>
            </a:r>
            <a:r>
              <a:rPr lang="zh-CN" altLang="en-US"/>
              <a:t>司</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公司介绍</a:t>
            </a:r>
            <a:r>
              <a:rPr lang="en-US" altLang="zh-CN"/>
              <a:t> Company Introduction</a:t>
            </a:r>
            <a:endParaRPr lang="en-US" altLang="zh-CN"/>
          </a:p>
        </p:txBody>
      </p:sp>
      <p:sp>
        <p:nvSpPr>
          <p:cNvPr id="3" name="内容占位符 2"/>
          <p:cNvSpPr>
            <a:spLocks noGrp="1"/>
          </p:cNvSpPr>
          <p:nvPr>
            <p:ph idx="1"/>
          </p:nvPr>
        </p:nvSpPr>
        <p:spPr/>
        <p:txBody>
          <a:bodyPr/>
          <a:p>
            <a:r>
              <a:rPr lang="zh-CN" altLang="en-US" sz="2000"/>
              <a:t>苏州顺帆信息科技有限公司致力于为生产制造企业建立协同生产管理平台，实现企业内部以及与客户、供应商的高效协同，集成应用物联网、大数据、人工智能等技术，打造智能工厂，推进产业协同，实现精益生产与智能制造。</a:t>
            </a:r>
            <a:endParaRPr lang="zh-CN" altLang="en-US" sz="2000"/>
          </a:p>
          <a:p>
            <a:r>
              <a:rPr lang="zh-CN" altLang="en-US" sz="2000"/>
              <a:t>顺帆科技坐落于苏州吴江科创园，自</a:t>
            </a:r>
            <a:r>
              <a:rPr lang="en-US" altLang="zh-CN" sz="2000"/>
              <a:t>2014</a:t>
            </a:r>
            <a:r>
              <a:rPr lang="zh-CN" altLang="en-US" sz="2000"/>
              <a:t>年成立以来，</a:t>
            </a:r>
            <a:r>
              <a:rPr lang="zh-CN" altLang="en-US" sz="2000"/>
              <a:t>为众多客户实现了从传统制造向智能制造的转型，并取得了可观的经济效益和市场竞争优势。</a:t>
            </a:r>
            <a:endParaRPr lang="zh-CN" altLang="en-US" sz="2000"/>
          </a:p>
          <a:p>
            <a:r>
              <a:rPr lang="zh-CN" altLang="en-US" sz="2000"/>
              <a:t>软件著作权</a:t>
            </a:r>
            <a:r>
              <a:rPr lang="en-US" altLang="zh-CN" sz="2000"/>
              <a:t> </a:t>
            </a:r>
            <a:r>
              <a:rPr lang="zh-CN" altLang="en-US" sz="2000"/>
              <a:t>Software </a:t>
            </a:r>
            <a:r>
              <a:rPr lang="en-US" altLang="zh-CN" sz="2000"/>
              <a:t>C</a:t>
            </a:r>
            <a:r>
              <a:rPr lang="zh-CN" altLang="en-US" sz="2000"/>
              <a:t>opyright</a:t>
            </a:r>
            <a:endParaRPr lang="zh-CN" altLang="en-US" sz="2000"/>
          </a:p>
          <a:p>
            <a:endParaRPr lang="zh-CN" altLang="en-US" sz="2000"/>
          </a:p>
        </p:txBody>
      </p:sp>
      <p:pic>
        <p:nvPicPr>
          <p:cNvPr id="4" name="图片 3" descr="CRM"/>
          <p:cNvPicPr>
            <a:picLocks noChangeAspect="1"/>
          </p:cNvPicPr>
          <p:nvPr/>
        </p:nvPicPr>
        <p:blipFill>
          <a:blip r:embed="rId1"/>
          <a:stretch>
            <a:fillRect/>
          </a:stretch>
        </p:blipFill>
        <p:spPr>
          <a:xfrm>
            <a:off x="8347075" y="4236720"/>
            <a:ext cx="1179195" cy="1665605"/>
          </a:xfrm>
          <a:prstGeom prst="rect">
            <a:avLst/>
          </a:prstGeom>
        </p:spPr>
      </p:pic>
      <p:pic>
        <p:nvPicPr>
          <p:cNvPr id="9" name="图片 8" descr="采购管理系统"/>
          <p:cNvPicPr>
            <a:picLocks noChangeAspect="1"/>
          </p:cNvPicPr>
          <p:nvPr/>
        </p:nvPicPr>
        <p:blipFill>
          <a:blip r:embed="rId2"/>
          <a:stretch>
            <a:fillRect/>
          </a:stretch>
        </p:blipFill>
        <p:spPr>
          <a:xfrm>
            <a:off x="10771505" y="4194810"/>
            <a:ext cx="1293495" cy="1675130"/>
          </a:xfrm>
          <a:prstGeom prst="rect">
            <a:avLst/>
          </a:prstGeom>
        </p:spPr>
      </p:pic>
      <p:pic>
        <p:nvPicPr>
          <p:cNvPr id="10" name="图片 9" descr="仓库管理系统"/>
          <p:cNvPicPr>
            <a:picLocks noChangeAspect="1"/>
          </p:cNvPicPr>
          <p:nvPr/>
        </p:nvPicPr>
        <p:blipFill>
          <a:blip r:embed="rId3"/>
          <a:stretch>
            <a:fillRect/>
          </a:stretch>
        </p:blipFill>
        <p:spPr>
          <a:xfrm>
            <a:off x="1595755" y="4205605"/>
            <a:ext cx="1310005" cy="1696720"/>
          </a:xfrm>
          <a:prstGeom prst="rect">
            <a:avLst/>
          </a:prstGeom>
        </p:spPr>
      </p:pic>
      <p:pic>
        <p:nvPicPr>
          <p:cNvPr id="11" name="图片 10" descr="电镀行业"/>
          <p:cNvPicPr>
            <a:picLocks noChangeAspect="1"/>
          </p:cNvPicPr>
          <p:nvPr/>
        </p:nvPicPr>
        <p:blipFill>
          <a:blip r:embed="rId4"/>
          <a:stretch>
            <a:fillRect/>
          </a:stretch>
        </p:blipFill>
        <p:spPr>
          <a:xfrm>
            <a:off x="9580245" y="4236720"/>
            <a:ext cx="1179195" cy="1664970"/>
          </a:xfrm>
          <a:prstGeom prst="rect">
            <a:avLst/>
          </a:prstGeom>
        </p:spPr>
      </p:pic>
      <p:pic>
        <p:nvPicPr>
          <p:cNvPr id="12" name="图片 11" descr="货代管理"/>
          <p:cNvPicPr>
            <a:picLocks noChangeAspect="1"/>
          </p:cNvPicPr>
          <p:nvPr/>
        </p:nvPicPr>
        <p:blipFill>
          <a:blip r:embed="rId5"/>
          <a:stretch>
            <a:fillRect/>
          </a:stretch>
        </p:blipFill>
        <p:spPr>
          <a:xfrm>
            <a:off x="6997065" y="4205605"/>
            <a:ext cx="1266190" cy="1754505"/>
          </a:xfrm>
          <a:prstGeom prst="rect">
            <a:avLst/>
          </a:prstGeom>
        </p:spPr>
      </p:pic>
      <p:pic>
        <p:nvPicPr>
          <p:cNvPr id="13" name="图片 12" descr="机加工企业"/>
          <p:cNvPicPr>
            <a:picLocks noChangeAspect="1"/>
          </p:cNvPicPr>
          <p:nvPr/>
        </p:nvPicPr>
        <p:blipFill>
          <a:blip r:embed="rId6"/>
          <a:stretch>
            <a:fillRect/>
          </a:stretch>
        </p:blipFill>
        <p:spPr>
          <a:xfrm>
            <a:off x="5588635" y="4163695"/>
            <a:ext cx="1296670" cy="1797050"/>
          </a:xfrm>
          <a:prstGeom prst="rect">
            <a:avLst/>
          </a:prstGeom>
        </p:spPr>
      </p:pic>
      <p:pic>
        <p:nvPicPr>
          <p:cNvPr id="15" name="图片 14" descr="顺帆销售报价"/>
          <p:cNvPicPr>
            <a:picLocks noChangeAspect="1"/>
          </p:cNvPicPr>
          <p:nvPr/>
        </p:nvPicPr>
        <p:blipFill>
          <a:blip r:embed="rId7"/>
          <a:stretch>
            <a:fillRect/>
          </a:stretch>
        </p:blipFill>
        <p:spPr>
          <a:xfrm>
            <a:off x="4201795" y="4205605"/>
            <a:ext cx="1303020" cy="1805305"/>
          </a:xfrm>
          <a:prstGeom prst="rect">
            <a:avLst/>
          </a:prstGeom>
        </p:spPr>
      </p:pic>
      <p:pic>
        <p:nvPicPr>
          <p:cNvPr id="16" name="图片 15" descr="太阳能丝网印刷"/>
          <p:cNvPicPr>
            <a:picLocks noChangeAspect="1"/>
          </p:cNvPicPr>
          <p:nvPr/>
        </p:nvPicPr>
        <p:blipFill>
          <a:blip r:embed="rId8"/>
          <a:stretch>
            <a:fillRect/>
          </a:stretch>
        </p:blipFill>
        <p:spPr>
          <a:xfrm>
            <a:off x="2898775" y="4205605"/>
            <a:ext cx="1303020" cy="1805305"/>
          </a:xfrm>
          <a:prstGeom prst="rect">
            <a:avLst/>
          </a:prstGeom>
        </p:spPr>
      </p:pic>
      <p:pic>
        <p:nvPicPr>
          <p:cNvPr id="17" name="图片 16" descr="销售订单管理系统"/>
          <p:cNvPicPr>
            <a:picLocks noChangeAspect="1"/>
          </p:cNvPicPr>
          <p:nvPr/>
        </p:nvPicPr>
        <p:blipFill>
          <a:blip r:embed="rId9"/>
          <a:stretch>
            <a:fillRect/>
          </a:stretch>
        </p:blipFill>
        <p:spPr>
          <a:xfrm>
            <a:off x="253365" y="4163695"/>
            <a:ext cx="1342390" cy="17379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企业文化</a:t>
            </a:r>
            <a:r>
              <a:rPr lang="en-US" altLang="zh-CN"/>
              <a:t> Corporate </a:t>
            </a:r>
            <a:r>
              <a:rPr lang="en-US" altLang="zh-CN"/>
              <a:t>Culture</a:t>
            </a:r>
            <a:endParaRPr lang="en-US" altLang="zh-CN"/>
          </a:p>
        </p:txBody>
      </p:sp>
      <p:sp>
        <p:nvSpPr>
          <p:cNvPr id="3" name="内容占位符 2"/>
          <p:cNvSpPr>
            <a:spLocks noGrp="1"/>
          </p:cNvSpPr>
          <p:nvPr>
            <p:ph idx="1"/>
          </p:nvPr>
        </p:nvSpPr>
        <p:spPr/>
        <p:txBody>
          <a:bodyPr>
            <a:normAutofit fontScale="25000"/>
          </a:bodyPr>
          <a:p>
            <a:r>
              <a:rPr lang="zh-CN" altLang="en-US" sz="9600"/>
              <a:t>使命：</a:t>
            </a:r>
            <a:endParaRPr lang="zh-CN" altLang="en-US" sz="9600"/>
          </a:p>
          <a:p>
            <a:endParaRPr lang="zh-CN" altLang="en-US"/>
          </a:p>
          <a:p>
            <a:r>
              <a:rPr lang="zh-CN" altLang="en-US" sz="6400"/>
              <a:t>让管理更简单，让协同更高效。</a:t>
            </a:r>
            <a:endParaRPr lang="zh-CN" altLang="en-US" sz="6400"/>
          </a:p>
          <a:p>
            <a:endParaRPr lang="zh-CN" altLang="en-US"/>
          </a:p>
          <a:p>
            <a:r>
              <a:rPr lang="zh-CN" altLang="en-US" sz="9600"/>
              <a:t>愿景：</a:t>
            </a:r>
            <a:endParaRPr lang="zh-CN" altLang="en-US" sz="9600"/>
          </a:p>
          <a:p>
            <a:endParaRPr lang="zh-CN" altLang="en-US"/>
          </a:p>
          <a:p>
            <a:r>
              <a:rPr lang="zh-CN" altLang="en-US" sz="6400"/>
              <a:t>用软件和服务赋能生产智造者。</a:t>
            </a:r>
            <a:endParaRPr lang="zh-CN" altLang="en-US" sz="6400"/>
          </a:p>
          <a:p>
            <a:endParaRPr lang="zh-CN" altLang="en-US"/>
          </a:p>
          <a:p>
            <a:r>
              <a:rPr lang="zh-CN" altLang="en-US" sz="8000"/>
              <a:t>价值观：</a:t>
            </a:r>
            <a:endParaRPr lang="zh-CN" altLang="en-US" sz="8000"/>
          </a:p>
          <a:p>
            <a:endParaRPr lang="zh-CN" altLang="en-US"/>
          </a:p>
          <a:p>
            <a:r>
              <a:rPr lang="zh-CN" altLang="en-US" sz="6400"/>
              <a:t>顾客满意，员工成长，企业发展，社会进步。</a:t>
            </a:r>
            <a:endParaRPr lang="zh-CN" altLang="en-US" sz="6400"/>
          </a:p>
          <a:p>
            <a:endParaRPr lang="zh-CN" altLang="en-US"/>
          </a:p>
          <a:p>
            <a:r>
              <a:rPr lang="zh-CN" altLang="en-US" sz="9600"/>
              <a:t>理念：</a:t>
            </a:r>
            <a:endParaRPr lang="zh-CN" altLang="en-US" sz="9600"/>
          </a:p>
          <a:p>
            <a:endParaRPr lang="zh-CN" altLang="en-US" sz="6400"/>
          </a:p>
          <a:p>
            <a:r>
              <a:rPr lang="zh-CN" altLang="en-US" sz="6400"/>
              <a:t>开放共享，创新引领，诚信立业。</a:t>
            </a:r>
            <a:endParaRPr lang="zh-CN" altLang="en-US" sz="6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42900"/>
            <a:ext cx="8041640" cy="822960"/>
          </a:xfrm>
        </p:spPr>
        <p:txBody>
          <a:bodyPr/>
          <a:p>
            <a:r>
              <a:rPr lang="zh-CN" altLang="en-US"/>
              <a:t>产品及业务</a:t>
            </a:r>
            <a:r>
              <a:rPr lang="en-US" altLang="zh-CN"/>
              <a:t> </a:t>
            </a:r>
            <a:r>
              <a:rPr lang="en-US" altLang="zh-CN"/>
              <a:t>Product and Business</a:t>
            </a:r>
            <a:endParaRPr lang="en-US" altLang="zh-CN"/>
          </a:p>
        </p:txBody>
      </p:sp>
      <p:sp>
        <p:nvSpPr>
          <p:cNvPr id="4" name="文本框 3"/>
          <p:cNvSpPr txBox="1"/>
          <p:nvPr/>
        </p:nvSpPr>
        <p:spPr>
          <a:xfrm>
            <a:off x="756920" y="1111250"/>
            <a:ext cx="5480050" cy="1660525"/>
          </a:xfrm>
          <a:prstGeom prst="rect">
            <a:avLst/>
          </a:prstGeom>
          <a:noFill/>
        </p:spPr>
        <p:txBody>
          <a:bodyPr wrap="square" rtlCol="0">
            <a:spAutoFit/>
          </a:bodyPr>
          <a:p>
            <a:r>
              <a:rPr lang="en-US" altLang="zh-CN"/>
              <a:t>ERP</a:t>
            </a:r>
            <a:r>
              <a:rPr lang="zh-CN" altLang="en-US"/>
              <a:t>管理系统</a:t>
            </a:r>
            <a:endParaRPr lang="en-US" altLang="zh-CN"/>
          </a:p>
          <a:p>
            <a:pPr indent="0">
              <a:buNone/>
            </a:pPr>
            <a:r>
              <a:rPr lang="en-US" altLang="zh-CN" sz="1400" dirty="0">
                <a:latin typeface="+mj-ea"/>
                <a:ea typeface="+mj-ea"/>
                <a:sym typeface="+mn-ea"/>
              </a:rPr>
              <a:t>    </a:t>
            </a:r>
            <a:r>
              <a:rPr lang="zh-CN" altLang="en-US" sz="1400" dirty="0">
                <a:latin typeface="+mj-ea"/>
                <a:ea typeface="+mj-ea"/>
                <a:sym typeface="+mn-ea"/>
              </a:rPr>
              <a:t>围绕企业基础业务管理，实现流程的管控和表单的自动化。解决企业内部资源不清晰、信息不对称、业务不协调等问题，提高企业运营效率和利润。通过集成的系统和优化的流程，运用工作流让企业运行变得更加流畅，通过软件为载体，将整个业务流程转换到线上模式。</a:t>
            </a:r>
            <a:r>
              <a:rPr lang="zh-CN" altLang="en-US" sz="1400" dirty="0">
                <a:latin typeface="+mj-ea"/>
                <a:ea typeface="+mj-ea"/>
                <a:sym typeface="+mn-ea"/>
              </a:rPr>
              <a:t>系统主要包括订单、采购、</a:t>
            </a:r>
            <a:r>
              <a:rPr lang="en-US" altLang="zh-CN" sz="1400" dirty="0">
                <a:latin typeface="+mj-ea"/>
                <a:ea typeface="+mj-ea"/>
                <a:sym typeface="+mn-ea"/>
              </a:rPr>
              <a:t>BOM</a:t>
            </a:r>
            <a:r>
              <a:rPr lang="zh-CN" altLang="en-US" sz="1400" dirty="0">
                <a:latin typeface="+mj-ea"/>
                <a:ea typeface="+mj-ea"/>
                <a:sym typeface="+mn-ea"/>
              </a:rPr>
              <a:t>、仓库、生产、外协、品质、应收、应付、财务、资产、电子</a:t>
            </a:r>
            <a:r>
              <a:rPr lang="zh-CN" altLang="en-US" sz="1400" dirty="0">
                <a:latin typeface="+mj-ea"/>
                <a:ea typeface="+mj-ea"/>
                <a:sym typeface="+mn-ea"/>
              </a:rPr>
              <a:t>看板等模组</a:t>
            </a:r>
            <a:r>
              <a:rPr lang="zh-CN" altLang="en-US" sz="1400" dirty="0">
                <a:latin typeface="+mj-ea"/>
                <a:ea typeface="+mj-ea"/>
                <a:sym typeface="+mn-ea"/>
              </a:rPr>
              <a:t>功能。</a:t>
            </a:r>
            <a:endParaRPr lang="zh-CN" altLang="en-US" sz="1400" dirty="0">
              <a:latin typeface="+mj-ea"/>
              <a:ea typeface="+mj-ea"/>
              <a:sym typeface="+mn-ea"/>
            </a:endParaRPr>
          </a:p>
        </p:txBody>
      </p:sp>
      <p:pic>
        <p:nvPicPr>
          <p:cNvPr id="5" name="图片 4"/>
          <p:cNvPicPr>
            <a:picLocks noChangeAspect="1"/>
          </p:cNvPicPr>
          <p:nvPr/>
        </p:nvPicPr>
        <p:blipFill>
          <a:blip r:embed="rId1"/>
          <a:stretch>
            <a:fillRect/>
          </a:stretch>
        </p:blipFill>
        <p:spPr>
          <a:xfrm>
            <a:off x="6863080" y="951865"/>
            <a:ext cx="3686810" cy="1764030"/>
          </a:xfrm>
          <a:prstGeom prst="rect">
            <a:avLst/>
          </a:prstGeom>
        </p:spPr>
      </p:pic>
      <p:pic>
        <p:nvPicPr>
          <p:cNvPr id="6" name="图片 5"/>
          <p:cNvPicPr>
            <a:picLocks noChangeAspect="1"/>
          </p:cNvPicPr>
          <p:nvPr/>
        </p:nvPicPr>
        <p:blipFill>
          <a:blip r:embed="rId2"/>
          <a:stretch>
            <a:fillRect/>
          </a:stretch>
        </p:blipFill>
        <p:spPr>
          <a:xfrm>
            <a:off x="7273925" y="1272540"/>
            <a:ext cx="3685373" cy="1764000"/>
          </a:xfrm>
          <a:prstGeom prst="rect">
            <a:avLst/>
          </a:prstGeom>
        </p:spPr>
      </p:pic>
      <p:sp>
        <p:nvSpPr>
          <p:cNvPr id="7" name="文本框 6"/>
          <p:cNvSpPr txBox="1"/>
          <p:nvPr/>
        </p:nvSpPr>
        <p:spPr>
          <a:xfrm>
            <a:off x="5966460" y="3292475"/>
            <a:ext cx="5480050" cy="1229995"/>
          </a:xfrm>
          <a:prstGeom prst="rect">
            <a:avLst/>
          </a:prstGeom>
          <a:noFill/>
        </p:spPr>
        <p:txBody>
          <a:bodyPr wrap="square" rtlCol="0">
            <a:spAutoFit/>
          </a:bodyPr>
          <a:p>
            <a:r>
              <a:rPr lang="zh-CN" altLang="en-US"/>
              <a:t>机加工</a:t>
            </a:r>
            <a:r>
              <a:rPr lang="en-US" altLang="zh-CN"/>
              <a:t>MES</a:t>
            </a:r>
            <a:r>
              <a:rPr lang="zh-CN" altLang="en-US"/>
              <a:t>管理系统</a:t>
            </a:r>
            <a:endParaRPr lang="en-US" altLang="zh-CN"/>
          </a:p>
          <a:p>
            <a:pPr indent="0">
              <a:buNone/>
            </a:pPr>
            <a:r>
              <a:rPr lang="en-US" altLang="zh-CN" sz="1400" dirty="0">
                <a:latin typeface="+mj-ea"/>
                <a:ea typeface="+mj-ea"/>
                <a:sym typeface="+mn-ea"/>
              </a:rPr>
              <a:t>    机械加工企业</a:t>
            </a:r>
            <a:r>
              <a:rPr lang="zh-CN" altLang="en-US" sz="1400" dirty="0">
                <a:latin typeface="+mj-ea"/>
                <a:ea typeface="+mj-ea"/>
                <a:sym typeface="+mn-ea"/>
              </a:rPr>
              <a:t>通过</a:t>
            </a:r>
            <a:r>
              <a:rPr lang="en-US" altLang="zh-CN" sz="1400" dirty="0">
                <a:latin typeface="+mj-ea"/>
                <a:ea typeface="+mj-ea"/>
                <a:sym typeface="+mn-ea"/>
              </a:rPr>
              <a:t>MES</a:t>
            </a:r>
            <a:r>
              <a:rPr lang="zh-CN" altLang="en-US" sz="1400" dirty="0">
                <a:latin typeface="+mj-ea"/>
                <a:ea typeface="+mj-ea"/>
                <a:sym typeface="+mn-ea"/>
              </a:rPr>
              <a:t>管理系统对工单、反馈、设备、人员、质量等信息进行整合</a:t>
            </a:r>
            <a:r>
              <a:rPr lang="en-US" altLang="zh-CN" sz="1400" dirty="0">
                <a:latin typeface="+mj-ea"/>
                <a:ea typeface="+mj-ea"/>
                <a:sym typeface="+mn-ea"/>
              </a:rPr>
              <a:t>，</a:t>
            </a:r>
            <a:r>
              <a:rPr lang="zh-CN" altLang="en-US" sz="1400" dirty="0">
                <a:latin typeface="+mj-ea"/>
                <a:ea typeface="+mj-ea"/>
                <a:sym typeface="+mn-ea"/>
              </a:rPr>
              <a:t>实现数字化管控，最终实现产品的全流程追溯，提高生产效率，</a:t>
            </a:r>
            <a:r>
              <a:rPr lang="en-US" altLang="zh-CN" sz="1400" dirty="0">
                <a:latin typeface="+mj-ea"/>
                <a:ea typeface="+mj-ea"/>
                <a:sym typeface="+mn-ea"/>
              </a:rPr>
              <a:t>缩短</a:t>
            </a:r>
            <a:r>
              <a:rPr lang="zh-CN" altLang="en-US" sz="1400" dirty="0">
                <a:latin typeface="+mj-ea"/>
                <a:ea typeface="+mj-ea"/>
                <a:sym typeface="+mn-ea"/>
              </a:rPr>
              <a:t>交货周期</a:t>
            </a:r>
            <a:r>
              <a:rPr lang="en-US" altLang="zh-CN" sz="1400" dirty="0">
                <a:latin typeface="+mj-ea"/>
                <a:ea typeface="+mj-ea"/>
                <a:sym typeface="+mn-ea"/>
              </a:rPr>
              <a:t>，降低生产成本</a:t>
            </a:r>
            <a:r>
              <a:rPr lang="zh-CN" altLang="en-US" sz="1400" dirty="0">
                <a:latin typeface="+mj-ea"/>
                <a:ea typeface="+mj-ea"/>
                <a:sym typeface="+mn-ea"/>
              </a:rPr>
              <a:t>。系统主要包括用料管理、设备管理、报工管理、质量管理、排程管理</a:t>
            </a:r>
            <a:r>
              <a:rPr lang="zh-CN" altLang="en-US" sz="1400" dirty="0">
                <a:latin typeface="+mj-ea"/>
                <a:ea typeface="+mj-ea"/>
                <a:sym typeface="+mn-ea"/>
              </a:rPr>
              <a:t>等。</a:t>
            </a:r>
            <a:endParaRPr lang="zh-CN" altLang="en-US" sz="1400" dirty="0">
              <a:latin typeface="+mj-ea"/>
              <a:ea typeface="+mj-ea"/>
              <a:sym typeface="+mn-ea"/>
            </a:endParaRPr>
          </a:p>
        </p:txBody>
      </p:sp>
      <p:sp>
        <p:nvSpPr>
          <p:cNvPr id="8" name="文本框 7"/>
          <p:cNvSpPr txBox="1"/>
          <p:nvPr/>
        </p:nvSpPr>
        <p:spPr>
          <a:xfrm>
            <a:off x="315595" y="5304790"/>
            <a:ext cx="5480050" cy="1229995"/>
          </a:xfrm>
          <a:prstGeom prst="rect">
            <a:avLst/>
          </a:prstGeom>
          <a:noFill/>
        </p:spPr>
        <p:txBody>
          <a:bodyPr wrap="square" rtlCol="0">
            <a:spAutoFit/>
          </a:bodyPr>
          <a:p>
            <a:r>
              <a:rPr lang="zh-CN" altLang="en-US"/>
              <a:t>电子</a:t>
            </a:r>
            <a:r>
              <a:rPr lang="en-US" altLang="zh-CN"/>
              <a:t>/</a:t>
            </a:r>
            <a:r>
              <a:rPr lang="zh-CN" altLang="en-US"/>
              <a:t>设备</a:t>
            </a:r>
            <a:r>
              <a:rPr lang="en-US" altLang="zh-CN"/>
              <a:t>MES</a:t>
            </a:r>
            <a:r>
              <a:rPr lang="zh-CN" altLang="en-US"/>
              <a:t>管理系统</a:t>
            </a:r>
            <a:endParaRPr lang="en-US" altLang="zh-CN"/>
          </a:p>
          <a:p>
            <a:pPr indent="0">
              <a:buNone/>
            </a:pPr>
            <a:r>
              <a:rPr lang="en-US" altLang="zh-CN" sz="1400" dirty="0">
                <a:latin typeface="+mj-ea"/>
                <a:ea typeface="+mj-ea"/>
                <a:sym typeface="+mn-ea"/>
              </a:rPr>
              <a:t>    </a:t>
            </a:r>
            <a:r>
              <a:rPr lang="zh-CN" altLang="en-US" sz="1400" dirty="0">
                <a:latin typeface="+mj-ea"/>
                <a:ea typeface="+mj-ea"/>
                <a:sym typeface="+mn-ea"/>
              </a:rPr>
              <a:t>电子设备</a:t>
            </a:r>
            <a:r>
              <a:rPr lang="en-US" altLang="zh-CN" sz="1400" dirty="0">
                <a:latin typeface="+mj-ea"/>
                <a:ea typeface="+mj-ea"/>
                <a:sym typeface="+mn-ea"/>
              </a:rPr>
              <a:t>MES</a:t>
            </a:r>
            <a:r>
              <a:rPr lang="zh-CN" altLang="en-US" sz="1400" dirty="0">
                <a:latin typeface="+mj-ea"/>
                <a:ea typeface="+mj-ea"/>
                <a:sym typeface="+mn-ea"/>
              </a:rPr>
              <a:t>主要包括用料管理、设备管理、报工管理、质量管理、排程管理、生产上料、钢网管理（钢网清洗、钢网存储、钢网寿命管理、钢网制作与校准）、锡膏管理（温度控制、印刷量控制、锡膏回收），实现生产过程和用料的</a:t>
            </a:r>
            <a:r>
              <a:rPr lang="zh-CN" altLang="en-US" sz="1400" dirty="0">
                <a:latin typeface="+mj-ea"/>
                <a:ea typeface="+mj-ea"/>
                <a:sym typeface="+mn-ea"/>
              </a:rPr>
              <a:t>追溯。</a:t>
            </a:r>
            <a:endParaRPr lang="zh-CN" altLang="en-US" sz="1400" dirty="0">
              <a:latin typeface="+mj-ea"/>
              <a:ea typeface="+mj-ea"/>
              <a:sym typeface="+mn-ea"/>
            </a:endParaRPr>
          </a:p>
        </p:txBody>
      </p:sp>
      <p:pic>
        <p:nvPicPr>
          <p:cNvPr id="9" name="图片 8"/>
          <p:cNvPicPr>
            <a:picLocks noChangeAspect="1"/>
          </p:cNvPicPr>
          <p:nvPr/>
        </p:nvPicPr>
        <p:blipFill>
          <a:blip r:embed="rId3"/>
          <a:stretch>
            <a:fillRect/>
          </a:stretch>
        </p:blipFill>
        <p:spPr>
          <a:xfrm>
            <a:off x="929005" y="3036570"/>
            <a:ext cx="3529965" cy="1649095"/>
          </a:xfrm>
          <a:prstGeom prst="rect">
            <a:avLst/>
          </a:prstGeom>
        </p:spPr>
      </p:pic>
      <p:pic>
        <p:nvPicPr>
          <p:cNvPr id="10" name="图片 9"/>
          <p:cNvPicPr>
            <a:picLocks noChangeAspect="1"/>
          </p:cNvPicPr>
          <p:nvPr/>
        </p:nvPicPr>
        <p:blipFill>
          <a:blip r:embed="rId4"/>
          <a:stretch>
            <a:fillRect/>
          </a:stretch>
        </p:blipFill>
        <p:spPr>
          <a:xfrm>
            <a:off x="315595" y="3415030"/>
            <a:ext cx="3529330" cy="1632585"/>
          </a:xfrm>
          <a:prstGeom prst="rect">
            <a:avLst/>
          </a:prstGeom>
        </p:spPr>
      </p:pic>
      <p:pic>
        <p:nvPicPr>
          <p:cNvPr id="12" name="图片 11"/>
          <p:cNvPicPr>
            <a:picLocks noChangeAspect="1"/>
          </p:cNvPicPr>
          <p:nvPr/>
        </p:nvPicPr>
        <p:blipFill>
          <a:blip r:embed="rId5"/>
          <a:stretch>
            <a:fillRect/>
          </a:stretch>
        </p:blipFill>
        <p:spPr>
          <a:xfrm>
            <a:off x="6652895" y="4724400"/>
            <a:ext cx="3725545" cy="1560195"/>
          </a:xfrm>
          <a:prstGeom prst="rect">
            <a:avLst/>
          </a:prstGeom>
        </p:spPr>
      </p:pic>
      <p:pic>
        <p:nvPicPr>
          <p:cNvPr id="11" name="图片 10"/>
          <p:cNvPicPr>
            <a:picLocks noChangeAspect="1"/>
          </p:cNvPicPr>
          <p:nvPr/>
        </p:nvPicPr>
        <p:blipFill>
          <a:blip r:embed="rId6"/>
          <a:stretch>
            <a:fillRect/>
          </a:stretch>
        </p:blipFill>
        <p:spPr>
          <a:xfrm>
            <a:off x="7142480" y="5047615"/>
            <a:ext cx="3726180" cy="17449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7715" y="173355"/>
            <a:ext cx="8272780" cy="932815"/>
          </a:xfrm>
        </p:spPr>
        <p:txBody>
          <a:bodyPr/>
          <a:p>
            <a:r>
              <a:rPr lang="zh-CN" altLang="en-US"/>
              <a:t>产品及业务</a:t>
            </a:r>
            <a:r>
              <a:rPr lang="en-US" altLang="zh-CN"/>
              <a:t> </a:t>
            </a:r>
            <a:r>
              <a:rPr lang="en-US" altLang="zh-CN"/>
              <a:t>Product and Business</a:t>
            </a:r>
            <a:endParaRPr lang="en-US" altLang="zh-CN"/>
          </a:p>
        </p:txBody>
      </p:sp>
      <p:sp>
        <p:nvSpPr>
          <p:cNvPr id="8" name="文本框 7"/>
          <p:cNvSpPr txBox="1"/>
          <p:nvPr/>
        </p:nvSpPr>
        <p:spPr>
          <a:xfrm>
            <a:off x="908685" y="1106170"/>
            <a:ext cx="5480050" cy="1229995"/>
          </a:xfrm>
          <a:prstGeom prst="rect">
            <a:avLst/>
          </a:prstGeom>
          <a:noFill/>
        </p:spPr>
        <p:txBody>
          <a:bodyPr wrap="square" rtlCol="0">
            <a:spAutoFit/>
          </a:bodyPr>
          <a:p>
            <a:r>
              <a:rPr lang="en-US" altLang="zh-CN"/>
              <a:t>WMS</a:t>
            </a:r>
            <a:r>
              <a:rPr lang="zh-CN" altLang="en-US"/>
              <a:t>仓库管理系统</a:t>
            </a:r>
            <a:endParaRPr lang="en-US" altLang="zh-CN"/>
          </a:p>
          <a:p>
            <a:pPr indent="0">
              <a:buNone/>
            </a:pPr>
            <a:r>
              <a:rPr lang="en-US" altLang="zh-CN" sz="1400" dirty="0">
                <a:latin typeface="+mj-ea"/>
                <a:ea typeface="+mj-ea"/>
                <a:sym typeface="+mn-ea"/>
              </a:rPr>
              <a:t>    </a:t>
            </a:r>
            <a:r>
              <a:rPr sz="1400" dirty="0">
                <a:latin typeface="微软雅黑" panose="020B0503020204020204" charset="-122"/>
                <a:ea typeface="微软雅黑" panose="020B0503020204020204" charset="-122"/>
                <a:cs typeface="微软雅黑" panose="020B0503020204020204" charset="-122"/>
                <a:sym typeface="+mn-ea"/>
              </a:rPr>
              <a:t>WMS仓库管理系统</a:t>
            </a:r>
            <a:r>
              <a:rPr lang="zh-CN" sz="1400" dirty="0">
                <a:latin typeface="微软雅黑" panose="020B0503020204020204" charset="-122"/>
                <a:ea typeface="微软雅黑" panose="020B0503020204020204" charset="-122"/>
                <a:cs typeface="微软雅黑" panose="020B0503020204020204" charset="-122"/>
                <a:sym typeface="+mn-ea"/>
              </a:rPr>
              <a:t>针对仓储业务精细化管理，</a:t>
            </a:r>
            <a:r>
              <a:rPr sz="1400" dirty="0">
                <a:latin typeface="微软雅黑" panose="020B0503020204020204" charset="-122"/>
                <a:ea typeface="微软雅黑" panose="020B0503020204020204" charset="-122"/>
                <a:cs typeface="微软雅黑" panose="020B0503020204020204" charset="-122"/>
                <a:sym typeface="+mn-ea"/>
              </a:rPr>
              <a:t>从货物</a:t>
            </a:r>
            <a:r>
              <a:rPr lang="zh-CN" sz="1400" dirty="0">
                <a:latin typeface="微软雅黑" panose="020B0503020204020204" charset="-122"/>
                <a:ea typeface="微软雅黑" panose="020B0503020204020204" charset="-122"/>
                <a:cs typeface="微软雅黑" panose="020B0503020204020204" charset="-122"/>
                <a:sym typeface="+mn-ea"/>
              </a:rPr>
              <a:t>上架</a:t>
            </a:r>
            <a:r>
              <a:rPr sz="1400" dirty="0">
                <a:latin typeface="微软雅黑" panose="020B0503020204020204" charset="-122"/>
                <a:ea typeface="微软雅黑" panose="020B0503020204020204" charset="-122"/>
                <a:cs typeface="微软雅黑" panose="020B0503020204020204" charset="-122"/>
                <a:sym typeface="+mn-ea"/>
              </a:rPr>
              <a:t>、</a:t>
            </a:r>
            <a:r>
              <a:rPr lang="zh-CN" sz="1400" dirty="0">
                <a:latin typeface="微软雅黑" panose="020B0503020204020204" charset="-122"/>
                <a:ea typeface="微软雅黑" panose="020B0503020204020204" charset="-122"/>
                <a:cs typeface="微软雅黑" panose="020B0503020204020204" charset="-122"/>
                <a:sym typeface="+mn-ea"/>
              </a:rPr>
              <a:t>下架、补货、分拣、</a:t>
            </a:r>
            <a:r>
              <a:rPr sz="1400" dirty="0">
                <a:latin typeface="微软雅黑" panose="020B0503020204020204" charset="-122"/>
                <a:ea typeface="微软雅黑" panose="020B0503020204020204" charset="-122"/>
                <a:cs typeface="微软雅黑" panose="020B0503020204020204" charset="-122"/>
                <a:sym typeface="+mn-ea"/>
              </a:rPr>
              <a:t>存储、包装到发货的整个过程。</a:t>
            </a:r>
            <a:r>
              <a:rPr lang="zh-CN" sz="1400" dirty="0">
                <a:latin typeface="微软雅黑" panose="020B0503020204020204" charset="-122"/>
                <a:ea typeface="微软雅黑" panose="020B0503020204020204" charset="-122"/>
                <a:cs typeface="微软雅黑" panose="020B0503020204020204" charset="-122"/>
                <a:sym typeface="+mn-ea"/>
              </a:rPr>
              <a:t>实现</a:t>
            </a:r>
            <a:r>
              <a:rPr lang="en-US" altLang="zh-CN" sz="1400" dirty="0">
                <a:latin typeface="微软雅黑" panose="020B0503020204020204" charset="-122"/>
                <a:ea typeface="微软雅黑" panose="020B0503020204020204" charset="-122"/>
                <a:cs typeface="微软雅黑" panose="020B0503020204020204" charset="-122"/>
                <a:sym typeface="+mn-ea"/>
              </a:rPr>
              <a:t>PDA</a:t>
            </a:r>
            <a:r>
              <a:rPr lang="zh-CN" altLang="en-US" sz="1400" dirty="0">
                <a:latin typeface="微软雅黑" panose="020B0503020204020204" charset="-122"/>
                <a:ea typeface="微软雅黑" panose="020B0503020204020204" charset="-122"/>
                <a:cs typeface="微软雅黑" panose="020B0503020204020204" charset="-122"/>
                <a:sym typeface="+mn-ea"/>
              </a:rPr>
              <a:t>扫码</a:t>
            </a:r>
            <a:r>
              <a:rPr lang="en-US" altLang="zh-CN" sz="1400" dirty="0">
                <a:latin typeface="微软雅黑" panose="020B0503020204020204" charset="-122"/>
                <a:ea typeface="微软雅黑" panose="020B0503020204020204" charset="-122"/>
                <a:cs typeface="微软雅黑" panose="020B0503020204020204" charset="-122"/>
                <a:sym typeface="+mn-ea"/>
              </a:rPr>
              <a:t>/</a:t>
            </a:r>
            <a:r>
              <a:rPr lang="zh-CN" altLang="en-US" sz="1400" dirty="0">
                <a:latin typeface="微软雅黑" panose="020B0503020204020204" charset="-122"/>
                <a:ea typeface="微软雅黑" panose="020B0503020204020204" charset="-122"/>
                <a:cs typeface="微软雅黑" panose="020B0503020204020204" charset="-122"/>
                <a:sym typeface="+mn-ea"/>
              </a:rPr>
              <a:t>无纸化作业 ，保障先进先出 。WMS部署可以显著改善供应链效率，减少人为错误，提高客户服务水平，并最终促进企业的增长和盈利能力。</a:t>
            </a:r>
            <a:endParaRPr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560695" y="3452495"/>
            <a:ext cx="5480050" cy="1229995"/>
          </a:xfrm>
          <a:prstGeom prst="rect">
            <a:avLst/>
          </a:prstGeom>
          <a:noFill/>
        </p:spPr>
        <p:txBody>
          <a:bodyPr wrap="square" rtlCol="0">
            <a:spAutoFit/>
          </a:bodyPr>
          <a:p>
            <a:r>
              <a:rPr lang="en-US" altLang="zh-CN"/>
              <a:t>SRM</a:t>
            </a:r>
            <a:r>
              <a:rPr lang="zh-CN" altLang="en-US"/>
              <a:t>供应商关系管理系统</a:t>
            </a:r>
            <a:endParaRPr lang="en-US" altLang="zh-CN"/>
          </a:p>
          <a:p>
            <a:pPr indent="0">
              <a:buNone/>
            </a:pPr>
            <a:r>
              <a:rPr lang="en-US" altLang="zh-CN" sz="1400" dirty="0">
                <a:latin typeface="+mj-ea"/>
                <a:ea typeface="+mj-ea"/>
                <a:sym typeface="+mn-ea"/>
              </a:rPr>
              <a:t>    </a:t>
            </a:r>
            <a:r>
              <a:rPr sz="1400" dirty="0">
                <a:latin typeface="微软雅黑" panose="020B0503020204020204" charset="-122"/>
                <a:ea typeface="微软雅黑" panose="020B0503020204020204" charset="-122"/>
                <a:cs typeface="微软雅黑" panose="020B0503020204020204" charset="-122"/>
                <a:sym typeface="+mn-ea"/>
              </a:rPr>
              <a:t>SRM系统的目标是通过改善供应链上游供应商的管理，提升采购效率，确保供应链的稳定性与可靠性，同时降低采购成本，提高整体供应链的效率和效果。</a:t>
            </a:r>
            <a:r>
              <a:rPr lang="zh-CN" sz="1400" dirty="0">
                <a:latin typeface="微软雅黑" panose="020B0503020204020204" charset="-122"/>
                <a:ea typeface="微软雅黑" panose="020B0503020204020204" charset="-122"/>
                <a:cs typeface="微软雅黑" panose="020B0503020204020204" charset="-122"/>
                <a:sym typeface="+mn-ea"/>
              </a:rPr>
              <a:t>包含订单建立、供应商账号建立、供应商订单交货、订单收货、收货检验、图纸上传等主要功能。</a:t>
            </a:r>
            <a:endParaRPr lang="zh-CN" sz="1400" dirty="0">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p:nvPr/>
        </p:nvPicPr>
        <p:blipFill>
          <a:blip r:embed="rId1"/>
          <a:stretch>
            <a:fillRect/>
          </a:stretch>
        </p:blipFill>
        <p:spPr>
          <a:xfrm>
            <a:off x="6668770" y="1323975"/>
            <a:ext cx="4371975" cy="1851025"/>
          </a:xfrm>
          <a:prstGeom prst="rect">
            <a:avLst/>
          </a:prstGeom>
        </p:spPr>
      </p:pic>
      <p:pic>
        <p:nvPicPr>
          <p:cNvPr id="7" name="图片 6"/>
          <p:cNvPicPr>
            <a:picLocks noChangeAspect="1"/>
          </p:cNvPicPr>
          <p:nvPr/>
        </p:nvPicPr>
        <p:blipFill>
          <a:blip r:embed="rId2"/>
          <a:stretch>
            <a:fillRect/>
          </a:stretch>
        </p:blipFill>
        <p:spPr>
          <a:xfrm>
            <a:off x="767715" y="2643505"/>
            <a:ext cx="3756025" cy="1737360"/>
          </a:xfrm>
          <a:prstGeom prst="rect">
            <a:avLst/>
          </a:prstGeom>
        </p:spPr>
      </p:pic>
      <p:pic>
        <p:nvPicPr>
          <p:cNvPr id="9" name="图片 8"/>
          <p:cNvPicPr>
            <a:picLocks noChangeAspect="1"/>
          </p:cNvPicPr>
          <p:nvPr/>
        </p:nvPicPr>
        <p:blipFill>
          <a:blip r:embed="rId3"/>
          <a:stretch>
            <a:fillRect/>
          </a:stretch>
        </p:blipFill>
        <p:spPr>
          <a:xfrm>
            <a:off x="1211580" y="3067050"/>
            <a:ext cx="3755390" cy="1743075"/>
          </a:xfrm>
          <a:prstGeom prst="rect">
            <a:avLst/>
          </a:prstGeom>
        </p:spPr>
      </p:pic>
      <p:sp>
        <p:nvSpPr>
          <p:cNvPr id="3" name="文本框 2"/>
          <p:cNvSpPr txBox="1"/>
          <p:nvPr/>
        </p:nvSpPr>
        <p:spPr>
          <a:xfrm>
            <a:off x="349250" y="5196840"/>
            <a:ext cx="5480050" cy="1445260"/>
          </a:xfrm>
          <a:prstGeom prst="rect">
            <a:avLst/>
          </a:prstGeom>
          <a:noFill/>
        </p:spPr>
        <p:txBody>
          <a:bodyPr wrap="square" rtlCol="0">
            <a:spAutoFit/>
          </a:bodyPr>
          <a:p>
            <a:r>
              <a:rPr lang="en-US" altLang="zh-CN"/>
              <a:t>CRM</a:t>
            </a:r>
            <a:r>
              <a:rPr lang="zh-CN" altLang="en-US"/>
              <a:t>客户关系管理系统</a:t>
            </a:r>
            <a:endParaRPr lang="en-US" altLang="zh-CN"/>
          </a:p>
          <a:p>
            <a:pPr indent="0">
              <a:buNone/>
            </a:pPr>
            <a:r>
              <a:rPr lang="en-US" altLang="zh-CN" sz="1400" dirty="0">
                <a:latin typeface="+mj-ea"/>
                <a:ea typeface="+mj-ea"/>
                <a:sym typeface="+mn-ea"/>
              </a:rPr>
              <a:t>    </a:t>
            </a:r>
            <a:r>
              <a:rPr lang="en-US" sz="1400" dirty="0">
                <a:latin typeface="微软雅黑" panose="020B0503020204020204" charset="-122"/>
                <a:ea typeface="微软雅黑" panose="020B0503020204020204" charset="-122"/>
                <a:cs typeface="微软雅黑" panose="020B0503020204020204" charset="-122"/>
                <a:sym typeface="+mn-ea"/>
              </a:rPr>
              <a:t>C</a:t>
            </a:r>
            <a:r>
              <a:rPr sz="1400" dirty="0">
                <a:latin typeface="微软雅黑" panose="020B0503020204020204" charset="-122"/>
                <a:ea typeface="微软雅黑" panose="020B0503020204020204" charset="-122"/>
                <a:cs typeface="微软雅黑" panose="020B0503020204020204" charset="-122"/>
                <a:sym typeface="+mn-ea"/>
              </a:rPr>
              <a:t>RM系统帮助企业管理与客户的</a:t>
            </a:r>
            <a:r>
              <a:rPr lang="zh-CN" sz="1400" dirty="0">
                <a:latin typeface="微软雅黑" panose="020B0503020204020204" charset="-122"/>
                <a:ea typeface="微软雅黑" panose="020B0503020204020204" charset="-122"/>
                <a:cs typeface="微软雅黑" panose="020B0503020204020204" charset="-122"/>
                <a:sym typeface="+mn-ea"/>
              </a:rPr>
              <a:t>售前售后</a:t>
            </a:r>
            <a:r>
              <a:rPr sz="1400" dirty="0">
                <a:latin typeface="微软雅黑" panose="020B0503020204020204" charset="-122"/>
                <a:ea typeface="微软雅黑" panose="020B0503020204020204" charset="-122"/>
                <a:cs typeface="微软雅黑" panose="020B0503020204020204" charset="-122"/>
                <a:sym typeface="+mn-ea"/>
              </a:rPr>
              <a:t>，提升销售效率，优化市场营销，并提供卓越的客户服务。</a:t>
            </a:r>
            <a:r>
              <a:rPr lang="zh-CN" sz="1400" dirty="0">
                <a:latin typeface="微软雅黑" panose="020B0503020204020204" charset="-122"/>
                <a:ea typeface="微软雅黑" panose="020B0503020204020204" charset="-122"/>
                <a:cs typeface="微软雅黑" panose="020B0503020204020204" charset="-122"/>
                <a:sym typeface="+mn-ea"/>
              </a:rPr>
              <a:t>主要包括潜在客户登录、客户记录（客户资料、联系人资料、客户联系记录、客户回访记录、客户销售机会、客户服务记录、客户合同）、客户投诉记录、客户终止记录、客户售前处理、客户售后处理等功能。</a:t>
            </a:r>
            <a:endParaRPr lang="zh-CN" sz="1400" dirty="0">
              <a:latin typeface="微软雅黑" panose="020B0503020204020204" charset="-122"/>
              <a:ea typeface="微软雅黑" panose="020B0503020204020204" charset="-122"/>
              <a:cs typeface="微软雅黑" panose="020B0503020204020204" charset="-122"/>
              <a:sym typeface="+mn-ea"/>
            </a:endParaRPr>
          </a:p>
        </p:txBody>
      </p:sp>
      <p:pic>
        <p:nvPicPr>
          <p:cNvPr id="-2147482570" name="图片 -2147482571" descr="16"/>
          <p:cNvPicPr>
            <a:picLocks noChangeAspect="1"/>
          </p:cNvPicPr>
          <p:nvPr/>
        </p:nvPicPr>
        <p:blipFill>
          <a:blip r:embed="rId4"/>
          <a:srcRect t="3654"/>
          <a:stretch>
            <a:fillRect/>
          </a:stretch>
        </p:blipFill>
        <p:spPr>
          <a:xfrm>
            <a:off x="7183120" y="5013960"/>
            <a:ext cx="870585" cy="1864360"/>
          </a:xfrm>
          <a:prstGeom prst="rect">
            <a:avLst/>
          </a:prstGeom>
          <a:noFill/>
          <a:ln w="9525">
            <a:noFill/>
          </a:ln>
        </p:spPr>
      </p:pic>
      <p:pic>
        <p:nvPicPr>
          <p:cNvPr id="-2147482591" name="图片 345" descr="31"/>
          <p:cNvPicPr>
            <a:picLocks noChangeAspect="1"/>
          </p:cNvPicPr>
          <p:nvPr/>
        </p:nvPicPr>
        <p:blipFill>
          <a:blip r:embed="rId5"/>
          <a:srcRect t="3297"/>
          <a:stretch>
            <a:fillRect/>
          </a:stretch>
        </p:blipFill>
        <p:spPr>
          <a:xfrm>
            <a:off x="8530590" y="5013960"/>
            <a:ext cx="864235" cy="185864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57555" y="-50165"/>
            <a:ext cx="6283960" cy="771525"/>
          </a:xfrm>
        </p:spPr>
        <p:txBody>
          <a:bodyPr>
            <a:normAutofit fontScale="90000"/>
          </a:bodyPr>
          <a:p>
            <a:r>
              <a:rPr lang="zh-CN" altLang="en-US"/>
              <a:t>合作客户</a:t>
            </a:r>
            <a:r>
              <a:rPr lang="en-US" altLang="zh-CN"/>
              <a:t> Main </a:t>
            </a:r>
            <a:r>
              <a:rPr lang="en-US" altLang="zh-CN"/>
              <a:t>Customers</a:t>
            </a:r>
            <a:endParaRPr lang="en-US" altLang="zh-CN"/>
          </a:p>
        </p:txBody>
      </p:sp>
      <p:sp>
        <p:nvSpPr>
          <p:cNvPr id="5" name="圆角矩形 4"/>
          <p:cNvSpPr/>
          <p:nvPr/>
        </p:nvSpPr>
        <p:spPr>
          <a:xfrm>
            <a:off x="868680" y="72136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nvPicPr>
        <p:blipFill>
          <a:blip r:embed="rId1"/>
          <a:srcRect l="631" t="24405" r="11318" b="11865"/>
        </p:blipFill>
        <p:spPr>
          <a:xfrm>
            <a:off x="1035050" y="1114425"/>
            <a:ext cx="2031365" cy="295910"/>
          </a:xfrm>
          <a:prstGeom prst="rect">
            <a:avLst/>
          </a:prstGeom>
        </p:spPr>
      </p:pic>
      <p:sp>
        <p:nvSpPr>
          <p:cNvPr id="7" name="圆角矩形 6"/>
          <p:cNvSpPr/>
          <p:nvPr/>
        </p:nvSpPr>
        <p:spPr>
          <a:xfrm>
            <a:off x="3581400" y="72136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2"/>
        </p:blipFill>
        <p:spPr>
          <a:xfrm>
            <a:off x="3907790" y="994410"/>
            <a:ext cx="1710690" cy="535940"/>
          </a:xfrm>
          <a:prstGeom prst="rect">
            <a:avLst/>
          </a:prstGeom>
        </p:spPr>
      </p:pic>
      <p:sp>
        <p:nvSpPr>
          <p:cNvPr id="9" name="圆角矩形 8"/>
          <p:cNvSpPr/>
          <p:nvPr/>
        </p:nvSpPr>
        <p:spPr>
          <a:xfrm>
            <a:off x="6294120" y="72136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3"/>
        </p:blipFill>
        <p:spPr>
          <a:xfrm>
            <a:off x="6782435" y="990600"/>
            <a:ext cx="1387475" cy="539750"/>
          </a:xfrm>
          <a:prstGeom prst="rect">
            <a:avLst/>
          </a:prstGeom>
        </p:spPr>
      </p:pic>
      <p:sp>
        <p:nvSpPr>
          <p:cNvPr id="11" name="圆角矩形 10"/>
          <p:cNvSpPr/>
          <p:nvPr/>
        </p:nvSpPr>
        <p:spPr>
          <a:xfrm>
            <a:off x="9006840" y="72136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nvPicPr>
        <p:blipFill>
          <a:blip r:embed="rId4"/>
        </p:blipFill>
        <p:spPr>
          <a:xfrm>
            <a:off x="9073515" y="994410"/>
            <a:ext cx="2230120" cy="507365"/>
          </a:xfrm>
          <a:prstGeom prst="rect">
            <a:avLst/>
          </a:prstGeom>
        </p:spPr>
      </p:pic>
      <p:pic>
        <p:nvPicPr>
          <p:cNvPr id="13" name="图片 12" descr="图片2"/>
          <p:cNvPicPr>
            <a:picLocks noChangeAspect="1"/>
          </p:cNvPicPr>
          <p:nvPr/>
        </p:nvPicPr>
        <p:blipFill>
          <a:blip r:embed="rId5"/>
          <a:stretch>
            <a:fillRect/>
          </a:stretch>
        </p:blipFill>
        <p:spPr>
          <a:xfrm>
            <a:off x="1199515" y="2236470"/>
            <a:ext cx="1551305" cy="673735"/>
          </a:xfrm>
          <a:prstGeom prst="rect">
            <a:avLst/>
          </a:prstGeom>
        </p:spPr>
      </p:pic>
      <p:sp>
        <p:nvSpPr>
          <p:cNvPr id="14" name="圆角矩形 13"/>
          <p:cNvSpPr/>
          <p:nvPr/>
        </p:nvSpPr>
        <p:spPr>
          <a:xfrm>
            <a:off x="868680" y="201930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p:nvPr/>
        </p:nvPicPr>
        <p:blipFill>
          <a:blip r:embed="rId6"/>
          <a:srcRect r="62958"/>
        </p:blipFill>
        <p:spPr>
          <a:xfrm>
            <a:off x="4156710" y="2134870"/>
            <a:ext cx="1213485" cy="775335"/>
          </a:xfrm>
          <a:prstGeom prst="rect">
            <a:avLst/>
          </a:prstGeom>
        </p:spPr>
      </p:pic>
      <p:sp>
        <p:nvSpPr>
          <p:cNvPr id="16" name="圆角矩形 15"/>
          <p:cNvSpPr/>
          <p:nvPr/>
        </p:nvSpPr>
        <p:spPr>
          <a:xfrm>
            <a:off x="3581400" y="201930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p:cNvPicPr>
            <a:picLocks noChangeAspect="1"/>
          </p:cNvPicPr>
          <p:nvPr/>
        </p:nvPicPr>
        <p:blipFill>
          <a:blip r:embed="rId7"/>
        </p:blipFill>
        <p:spPr>
          <a:xfrm>
            <a:off x="6393815" y="2433955"/>
            <a:ext cx="2165350" cy="292735"/>
          </a:xfrm>
          <a:prstGeom prst="rect">
            <a:avLst/>
          </a:prstGeom>
        </p:spPr>
      </p:pic>
      <p:sp>
        <p:nvSpPr>
          <p:cNvPr id="18" name="圆角矩形 17"/>
          <p:cNvSpPr/>
          <p:nvPr/>
        </p:nvSpPr>
        <p:spPr>
          <a:xfrm>
            <a:off x="6294120" y="201930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圆角矩形 18"/>
          <p:cNvSpPr/>
          <p:nvPr/>
        </p:nvSpPr>
        <p:spPr>
          <a:xfrm>
            <a:off x="9007475" y="201930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0" name="图片 19"/>
          <p:cNvPicPr>
            <a:picLocks noChangeAspect="1"/>
          </p:cNvPicPr>
          <p:nvPr/>
        </p:nvPicPr>
        <p:blipFill>
          <a:blip r:embed="rId8"/>
        </p:blipFill>
        <p:spPr>
          <a:xfrm>
            <a:off x="9072880" y="2378075"/>
            <a:ext cx="2327910" cy="397510"/>
          </a:xfrm>
          <a:prstGeom prst="rect">
            <a:avLst/>
          </a:prstGeom>
        </p:spPr>
      </p:pic>
      <p:sp>
        <p:nvSpPr>
          <p:cNvPr id="21" name="圆角矩形 20"/>
          <p:cNvSpPr/>
          <p:nvPr/>
        </p:nvSpPr>
        <p:spPr>
          <a:xfrm>
            <a:off x="869315" y="330390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p:cNvPicPr>
            <a:picLocks noChangeAspect="1"/>
          </p:cNvPicPr>
          <p:nvPr/>
        </p:nvPicPr>
        <p:blipFill>
          <a:blip r:embed="rId9"/>
          <a:srcRect r="4908"/>
        </p:blipFill>
        <p:spPr>
          <a:xfrm>
            <a:off x="885190" y="3736340"/>
            <a:ext cx="2331720" cy="275590"/>
          </a:xfrm>
          <a:prstGeom prst="rect">
            <a:avLst/>
          </a:prstGeom>
        </p:spPr>
      </p:pic>
      <p:pic>
        <p:nvPicPr>
          <p:cNvPr id="23" name="图片 22"/>
          <p:cNvPicPr/>
          <p:nvPr/>
        </p:nvPicPr>
        <p:blipFill>
          <a:blip r:embed="rId10"/>
          <a:srcRect l="5768" t="9833" r="60910" b="8917"/>
        </p:blipFill>
        <p:spPr>
          <a:xfrm>
            <a:off x="3810000" y="3549015"/>
            <a:ext cx="1907540" cy="619125"/>
          </a:xfrm>
          <a:prstGeom prst="rect">
            <a:avLst/>
          </a:prstGeom>
        </p:spPr>
      </p:pic>
      <p:sp>
        <p:nvSpPr>
          <p:cNvPr id="24" name="圆角矩形 23"/>
          <p:cNvSpPr/>
          <p:nvPr/>
        </p:nvSpPr>
        <p:spPr>
          <a:xfrm>
            <a:off x="3582035" y="329755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 name="图片 24"/>
          <p:cNvPicPr/>
          <p:nvPr/>
        </p:nvPicPr>
        <p:blipFill>
          <a:blip r:embed="rId11"/>
        </p:blipFill>
        <p:spPr>
          <a:xfrm>
            <a:off x="6783070" y="3549015"/>
            <a:ext cx="1466850" cy="552450"/>
          </a:xfrm>
          <a:prstGeom prst="rect">
            <a:avLst/>
          </a:prstGeom>
        </p:spPr>
      </p:pic>
      <p:sp>
        <p:nvSpPr>
          <p:cNvPr id="26" name="圆角矩形 25"/>
          <p:cNvSpPr/>
          <p:nvPr/>
        </p:nvSpPr>
        <p:spPr>
          <a:xfrm>
            <a:off x="6294120" y="330073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p:cNvPicPr>
            <a:picLocks noChangeAspect="1"/>
          </p:cNvPicPr>
          <p:nvPr/>
        </p:nvPicPr>
        <p:blipFill>
          <a:blip r:embed="rId12"/>
          <a:srcRect t="8063" r="3188" b="11125"/>
        </p:blipFill>
        <p:spPr>
          <a:xfrm>
            <a:off x="9128125" y="3691890"/>
            <a:ext cx="2176145" cy="300990"/>
          </a:xfrm>
          <a:prstGeom prst="rect">
            <a:avLst/>
          </a:prstGeom>
        </p:spPr>
      </p:pic>
      <p:sp>
        <p:nvSpPr>
          <p:cNvPr id="28" name="圆角矩形 27"/>
          <p:cNvSpPr/>
          <p:nvPr/>
        </p:nvSpPr>
        <p:spPr>
          <a:xfrm>
            <a:off x="9006205" y="329438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868680" y="458851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0" name="图片 29"/>
          <p:cNvPicPr/>
          <p:nvPr/>
        </p:nvPicPr>
        <p:blipFill>
          <a:blip r:embed="rId13"/>
        </p:blipFill>
        <p:spPr>
          <a:xfrm>
            <a:off x="1075055" y="4809490"/>
            <a:ext cx="1800225" cy="679450"/>
          </a:xfrm>
          <a:prstGeom prst="rect">
            <a:avLst/>
          </a:prstGeom>
        </p:spPr>
      </p:pic>
      <p:sp>
        <p:nvSpPr>
          <p:cNvPr id="31" name="圆角矩形 30"/>
          <p:cNvSpPr/>
          <p:nvPr/>
        </p:nvSpPr>
        <p:spPr>
          <a:xfrm>
            <a:off x="3581400" y="459486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圆角矩形 31"/>
          <p:cNvSpPr/>
          <p:nvPr/>
        </p:nvSpPr>
        <p:spPr>
          <a:xfrm>
            <a:off x="6294120" y="458724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圆角矩形 32"/>
          <p:cNvSpPr/>
          <p:nvPr/>
        </p:nvSpPr>
        <p:spPr>
          <a:xfrm>
            <a:off x="9006840" y="4587240"/>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p:cNvPicPr/>
          <p:nvPr/>
        </p:nvPicPr>
        <p:blipFill>
          <a:blip r:embed="rId14"/>
        </p:blipFill>
        <p:spPr>
          <a:xfrm>
            <a:off x="3963035" y="4945698"/>
            <a:ext cx="1600200" cy="542925"/>
          </a:xfrm>
          <a:prstGeom prst="rect">
            <a:avLst/>
          </a:prstGeom>
        </p:spPr>
      </p:pic>
      <p:pic>
        <p:nvPicPr>
          <p:cNvPr id="36" name="图片 35"/>
          <p:cNvPicPr>
            <a:picLocks noChangeAspect="1"/>
          </p:cNvPicPr>
          <p:nvPr/>
        </p:nvPicPr>
        <p:blipFill>
          <a:blip r:embed="rId15">
            <a:clrChange>
              <a:clrFrom>
                <a:srgbClr val="FFFFFF">
                  <a:alpha val="100000"/>
                </a:srgbClr>
              </a:clrFrom>
              <a:clrTo>
                <a:srgbClr val="FFFFFF">
                  <a:alpha val="100000"/>
                  <a:alpha val="0"/>
                </a:srgbClr>
              </a:clrTo>
            </a:clrChange>
          </a:blip>
          <a:stretch>
            <a:fillRect/>
          </a:stretch>
        </p:blipFill>
        <p:spPr>
          <a:xfrm>
            <a:off x="6428740" y="4878070"/>
            <a:ext cx="2095500" cy="542925"/>
          </a:xfrm>
          <a:prstGeom prst="rect">
            <a:avLst/>
          </a:prstGeom>
        </p:spPr>
      </p:pic>
      <p:pic>
        <p:nvPicPr>
          <p:cNvPr id="40" name="图片 39" descr="图片1"/>
          <p:cNvPicPr>
            <a:picLocks noChangeAspect="1"/>
          </p:cNvPicPr>
          <p:nvPr/>
        </p:nvPicPr>
        <p:blipFill>
          <a:blip r:embed="rId16">
            <a:clrChange>
              <a:clrFrom>
                <a:srgbClr val="FFFFF8">
                  <a:alpha val="100000"/>
                </a:srgbClr>
              </a:clrFrom>
              <a:clrTo>
                <a:srgbClr val="FFFFF8">
                  <a:alpha val="100000"/>
                  <a:alpha val="0"/>
                </a:srgbClr>
              </a:clrTo>
            </a:clrChange>
          </a:blip>
          <a:srcRect b="10213"/>
          <a:stretch>
            <a:fillRect/>
          </a:stretch>
        </p:blipFill>
        <p:spPr>
          <a:xfrm>
            <a:off x="9289415" y="4646930"/>
            <a:ext cx="1796415" cy="882015"/>
          </a:xfrm>
          <a:prstGeom prst="rect">
            <a:avLst/>
          </a:prstGeom>
        </p:spPr>
      </p:pic>
      <p:sp>
        <p:nvSpPr>
          <p:cNvPr id="3" name="圆角矩形 2"/>
          <p:cNvSpPr/>
          <p:nvPr/>
        </p:nvSpPr>
        <p:spPr>
          <a:xfrm>
            <a:off x="852170" y="587311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nvSpPr>
        <p:spPr>
          <a:xfrm>
            <a:off x="3581400" y="587946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圆角矩形 34"/>
          <p:cNvSpPr/>
          <p:nvPr/>
        </p:nvSpPr>
        <p:spPr>
          <a:xfrm>
            <a:off x="6293485" y="587946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圆角矩形 37"/>
          <p:cNvSpPr/>
          <p:nvPr/>
        </p:nvSpPr>
        <p:spPr>
          <a:xfrm>
            <a:off x="9032875" y="5892165"/>
            <a:ext cx="2364105" cy="1121410"/>
          </a:xfrm>
          <a:prstGeom prst="roundRect">
            <a:avLst>
              <a:gd name="adj" fmla="val 8550"/>
            </a:avLst>
          </a:prstGeom>
          <a:noFill/>
          <a:ln w="63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9" name="图片 38"/>
          <p:cNvPicPr>
            <a:picLocks noChangeAspect="1"/>
          </p:cNvPicPr>
          <p:nvPr/>
        </p:nvPicPr>
        <p:blipFill>
          <a:blip r:embed="rId17">
            <a:clrChange>
              <a:clrFrom>
                <a:srgbClr val="FFFFFF">
                  <a:alpha val="100000"/>
                </a:srgbClr>
              </a:clrFrom>
              <a:clrTo>
                <a:srgbClr val="FFFFFF">
                  <a:alpha val="100000"/>
                  <a:alpha val="0"/>
                </a:srgbClr>
              </a:clrTo>
            </a:clrChange>
          </a:blip>
          <a:srcRect l="6824" t="37454" r="7241" b="36981"/>
        </p:blipFill>
        <p:spPr>
          <a:xfrm>
            <a:off x="1075055" y="6167755"/>
            <a:ext cx="1788160" cy="532130"/>
          </a:xfrm>
          <a:prstGeom prst="rect">
            <a:avLst/>
          </a:prstGeom>
        </p:spPr>
      </p:pic>
      <p:pic>
        <p:nvPicPr>
          <p:cNvPr id="41" name="图片 40"/>
          <p:cNvPicPr>
            <a:picLocks noChangeAspect="1"/>
          </p:cNvPicPr>
          <p:nvPr/>
        </p:nvPicPr>
        <p:blipFill>
          <a:blip r:embed="rId18">
            <a:clrChange>
              <a:clrFrom>
                <a:srgbClr val="FFFFFF">
                  <a:alpha val="100000"/>
                </a:srgbClr>
              </a:clrFrom>
              <a:clrTo>
                <a:srgbClr val="FFFFFF">
                  <a:alpha val="100000"/>
                  <a:alpha val="0"/>
                </a:srgbClr>
              </a:clrTo>
            </a:clrChange>
          </a:blip>
          <a:srcRect l="5046" t="36269" r="4787" b="36102"/>
        </p:blipFill>
        <p:spPr>
          <a:xfrm>
            <a:off x="3910965" y="6186170"/>
            <a:ext cx="1737995" cy="532765"/>
          </a:xfrm>
          <a:prstGeom prst="rect">
            <a:avLst/>
          </a:prstGeom>
        </p:spPr>
      </p:pic>
      <p:pic>
        <p:nvPicPr>
          <p:cNvPr id="43" name="图片 42"/>
          <p:cNvPicPr/>
          <p:nvPr/>
        </p:nvPicPr>
        <p:blipFill>
          <a:blip r:embed="rId19"/>
        </p:blipFill>
        <p:spPr>
          <a:xfrm>
            <a:off x="9289415" y="6162675"/>
            <a:ext cx="1929765" cy="429260"/>
          </a:xfrm>
          <a:prstGeom prst="rect">
            <a:avLst/>
          </a:prstGeom>
        </p:spPr>
      </p:pic>
      <p:pic>
        <p:nvPicPr>
          <p:cNvPr id="44" name="图片 43"/>
          <p:cNvPicPr>
            <a:picLocks noChangeAspect="1"/>
          </p:cNvPicPr>
          <p:nvPr/>
        </p:nvPicPr>
        <p:blipFill>
          <a:blip r:embed="rId20"/>
        </p:blipFill>
        <p:spPr>
          <a:xfrm>
            <a:off x="6673850" y="6234430"/>
            <a:ext cx="1576070" cy="3575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98525" y="203200"/>
            <a:ext cx="7031355" cy="831215"/>
          </a:xfrm>
        </p:spPr>
        <p:txBody>
          <a:bodyPr/>
          <a:p>
            <a:r>
              <a:rPr lang="zh-CN" altLang="en-US"/>
              <a:t>精选案例</a:t>
            </a:r>
            <a:r>
              <a:rPr lang="en-US" altLang="zh-CN"/>
              <a:t> S</a:t>
            </a:r>
            <a:r>
              <a:rPr lang="en-US" altLang="zh-CN"/>
              <a:t>elected Cases</a:t>
            </a:r>
            <a:endParaRPr lang="en-US" altLang="zh-CN"/>
          </a:p>
        </p:txBody>
      </p:sp>
      <p:sp>
        <p:nvSpPr>
          <p:cNvPr id="4" name="文本框 3"/>
          <p:cNvSpPr txBox="1"/>
          <p:nvPr/>
        </p:nvSpPr>
        <p:spPr>
          <a:xfrm>
            <a:off x="756920" y="1111250"/>
            <a:ext cx="5480050" cy="1445260"/>
          </a:xfrm>
          <a:prstGeom prst="rect">
            <a:avLst/>
          </a:prstGeom>
          <a:noFill/>
        </p:spPr>
        <p:txBody>
          <a:bodyPr wrap="square" rtlCol="0">
            <a:spAutoFit/>
          </a:bodyPr>
          <a:p>
            <a:r>
              <a:rPr lang="zh-CN" altLang="en-US"/>
              <a:t>标品杰电子</a:t>
            </a:r>
            <a:r>
              <a:rPr lang="en-US" altLang="zh-CN"/>
              <a:t>——</a:t>
            </a:r>
            <a:r>
              <a:rPr lang="zh-CN" altLang="en-US"/>
              <a:t>电子行业</a:t>
            </a:r>
            <a:endParaRPr lang="en-US" altLang="zh-CN"/>
          </a:p>
          <a:p>
            <a:pPr indent="0">
              <a:buNone/>
            </a:pPr>
            <a:r>
              <a:rPr lang="en-US" altLang="zh-CN" sz="1400" dirty="0">
                <a:latin typeface="+mj-ea"/>
                <a:ea typeface="+mj-ea"/>
                <a:sym typeface="+mn-ea"/>
              </a:rPr>
              <a:t>    </a:t>
            </a:r>
            <a:r>
              <a:rPr lang="zh-CN" altLang="en-US" sz="1400" dirty="0">
                <a:latin typeface="+mj-ea"/>
                <a:ea typeface="+mj-ea"/>
                <a:sym typeface="+mn-ea"/>
              </a:rPr>
              <a:t>公司内各部门间协同办公，信息同步，实现异地办公、生产作业同步性与一致性。分岗位提醒待办事项</a:t>
            </a:r>
            <a:r>
              <a:rPr lang="en-US" altLang="zh-CN" sz="1400" dirty="0">
                <a:latin typeface="+mj-ea"/>
                <a:ea typeface="+mj-ea"/>
                <a:sym typeface="+mn-ea"/>
              </a:rPr>
              <a:t>,</a:t>
            </a:r>
            <a:r>
              <a:rPr lang="zh-CN" altLang="en-US" sz="1400" dirty="0">
                <a:latin typeface="+mj-ea"/>
                <a:ea typeface="+mj-ea"/>
                <a:sym typeface="+mn-ea"/>
              </a:rPr>
              <a:t> 实现流程管控，避免未处理事项的积压。通过扫描手持终端，管理者不需要密切关注生产设备，通过手持终端掌握各地区的生产和设备运行情况。所有的运行参数和状态都是可以随时随地查看的程序记录。</a:t>
            </a:r>
            <a:endParaRPr lang="zh-CN" altLang="en-US" sz="1400" dirty="0">
              <a:latin typeface="+mj-ea"/>
              <a:ea typeface="+mj-ea"/>
              <a:sym typeface="+mn-ea"/>
            </a:endParaRPr>
          </a:p>
        </p:txBody>
      </p:sp>
      <p:sp>
        <p:nvSpPr>
          <p:cNvPr id="8" name="文本框 7"/>
          <p:cNvSpPr txBox="1"/>
          <p:nvPr/>
        </p:nvSpPr>
        <p:spPr>
          <a:xfrm>
            <a:off x="5277485" y="3064510"/>
            <a:ext cx="6076315" cy="1229995"/>
          </a:xfrm>
          <a:prstGeom prst="rect">
            <a:avLst/>
          </a:prstGeom>
          <a:noFill/>
        </p:spPr>
        <p:txBody>
          <a:bodyPr wrap="square" rtlCol="0">
            <a:spAutoFit/>
          </a:bodyPr>
          <a:p>
            <a:r>
              <a:rPr lang="zh-CN" altLang="en-US"/>
              <a:t>敏拓精密</a:t>
            </a:r>
            <a:r>
              <a:rPr lang="en-US" altLang="zh-CN"/>
              <a:t>——</a:t>
            </a:r>
            <a:r>
              <a:rPr lang="zh-CN" altLang="en-US"/>
              <a:t>机</a:t>
            </a:r>
            <a:r>
              <a:rPr lang="zh-CN" altLang="en-US"/>
              <a:t>加工行业</a:t>
            </a:r>
            <a:endParaRPr sz="1400" dirty="0">
              <a:latin typeface="+mj-ea"/>
              <a:ea typeface="+mj-ea"/>
              <a:sym typeface="+mn-ea"/>
            </a:endParaRPr>
          </a:p>
          <a:p>
            <a:pPr indent="0">
              <a:buNone/>
            </a:pPr>
            <a:r>
              <a:rPr sz="1400" dirty="0">
                <a:latin typeface="微软雅黑" panose="020B0503020204020204" charset="-122"/>
                <a:ea typeface="微软雅黑" panose="020B0503020204020204" charset="-122"/>
                <a:cs typeface="微软雅黑" panose="020B0503020204020204" charset="-122"/>
                <a:sym typeface="+mn-ea"/>
              </a:rPr>
              <a:t>   生产进度在可视化看板上实时显示，管理者和员工可以随时了解当前生产状况，确保交期的准确预测和执行</a:t>
            </a:r>
            <a:r>
              <a:rPr lang="zh-CN" sz="1400" dirty="0">
                <a:latin typeface="微软雅黑" panose="020B0503020204020204" charset="-122"/>
                <a:ea typeface="微软雅黑" panose="020B0503020204020204" charset="-122"/>
                <a:cs typeface="微软雅黑" panose="020B0503020204020204" charset="-122"/>
                <a:sym typeface="+mn-ea"/>
              </a:rPr>
              <a:t>；</a:t>
            </a:r>
            <a:r>
              <a:rPr sz="1400" dirty="0">
                <a:latin typeface="微软雅黑" panose="020B0503020204020204" charset="-122"/>
                <a:ea typeface="微软雅黑" panose="020B0503020204020204" charset="-122"/>
                <a:cs typeface="微软雅黑" panose="020B0503020204020204" charset="-122"/>
                <a:sym typeface="+mn-ea"/>
              </a:rPr>
              <a:t>实时监控车间各工段的负荷情况，当内部产能达到极限时，可迅速评估是否需要将部分工序委外处理，灵活调整生产模式，保持生产平衡</a:t>
            </a:r>
            <a:r>
              <a:rPr lang="zh-CN" sz="1400" dirty="0">
                <a:latin typeface="微软雅黑" panose="020B0503020204020204" charset="-122"/>
                <a:ea typeface="微软雅黑" panose="020B0503020204020204" charset="-122"/>
                <a:cs typeface="微软雅黑" panose="020B0503020204020204" charset="-122"/>
                <a:sym typeface="+mn-ea"/>
              </a:rPr>
              <a:t>。</a:t>
            </a:r>
            <a:endParaRPr lang="zh-CN" sz="1400" dirty="0">
              <a:latin typeface="微软雅黑" panose="020B0503020204020204" charset="-122"/>
              <a:ea typeface="微软雅黑" panose="020B0503020204020204" charset="-122"/>
              <a:cs typeface="微软雅黑" panose="020B0503020204020204" charset="-122"/>
              <a:sym typeface="+mn-ea"/>
            </a:endParaRPr>
          </a:p>
        </p:txBody>
      </p:sp>
      <p:pic>
        <p:nvPicPr>
          <p:cNvPr id="9" name="图片 8"/>
          <p:cNvPicPr>
            <a:picLocks noChangeAspect="1"/>
          </p:cNvPicPr>
          <p:nvPr/>
        </p:nvPicPr>
        <p:blipFill>
          <a:blip r:embed="rId1"/>
          <a:stretch>
            <a:fillRect/>
          </a:stretch>
        </p:blipFill>
        <p:spPr>
          <a:xfrm>
            <a:off x="611505" y="2794635"/>
            <a:ext cx="3415030" cy="1635125"/>
          </a:xfrm>
          <a:prstGeom prst="rect">
            <a:avLst/>
          </a:prstGeom>
        </p:spPr>
      </p:pic>
      <p:sp>
        <p:nvSpPr>
          <p:cNvPr id="11" name="文本框 10"/>
          <p:cNvSpPr txBox="1"/>
          <p:nvPr/>
        </p:nvSpPr>
        <p:spPr>
          <a:xfrm>
            <a:off x="458470" y="5153025"/>
            <a:ext cx="6076315" cy="1014730"/>
          </a:xfrm>
          <a:prstGeom prst="rect">
            <a:avLst/>
          </a:prstGeom>
          <a:noFill/>
        </p:spPr>
        <p:txBody>
          <a:bodyPr wrap="square" rtlCol="0">
            <a:spAutoFit/>
          </a:bodyPr>
          <a:p>
            <a:r>
              <a:rPr lang="zh-CN" altLang="en-US"/>
              <a:t>元控智能科技</a:t>
            </a:r>
            <a:r>
              <a:rPr lang="en-US" altLang="zh-CN"/>
              <a:t>——</a:t>
            </a:r>
            <a:r>
              <a:rPr lang="zh-CN" altLang="en-US"/>
              <a:t>设备制造行业</a:t>
            </a:r>
            <a:endParaRPr sz="1400" dirty="0">
              <a:latin typeface="+mj-ea"/>
              <a:ea typeface="+mj-ea"/>
              <a:sym typeface="+mn-ea"/>
            </a:endParaRPr>
          </a:p>
          <a:p>
            <a:pPr indent="0">
              <a:buNone/>
            </a:pPr>
            <a:r>
              <a:rPr sz="1400" dirty="0">
                <a:latin typeface="微软雅黑" panose="020B0503020204020204" charset="-122"/>
                <a:ea typeface="微软雅黑" panose="020B0503020204020204" charset="-122"/>
                <a:cs typeface="微软雅黑" panose="020B0503020204020204" charset="-122"/>
                <a:sym typeface="+mn-ea"/>
              </a:rPr>
              <a:t>   </a:t>
            </a:r>
            <a:r>
              <a:rPr lang="zh-CN" altLang="en-US" sz="1400" dirty="0">
                <a:sym typeface="+mn-ea"/>
              </a:rPr>
              <a:t>机械设备设计生产销售和售后服务一体，系统包括报价管理、采购管理、品质管理、</a:t>
            </a:r>
            <a:r>
              <a:rPr lang="en-US" altLang="zh-CN" sz="1400" dirty="0">
                <a:sym typeface="+mn-ea"/>
              </a:rPr>
              <a:t>BOM</a:t>
            </a:r>
            <a:r>
              <a:rPr lang="zh-CN" altLang="en-US" sz="1400" dirty="0">
                <a:sym typeface="+mn-ea"/>
              </a:rPr>
              <a:t>管理、生产管理、报工管理、财务管理、外协管理等主要模块功能，实现信息共享</a:t>
            </a:r>
            <a:r>
              <a:rPr lang="en-US" altLang="zh-CN" sz="1400" dirty="0">
                <a:sym typeface="+mn-ea"/>
              </a:rPr>
              <a:t>,</a:t>
            </a:r>
            <a:r>
              <a:rPr lang="zh-CN" altLang="en-US" sz="1400" dirty="0">
                <a:sym typeface="+mn-ea"/>
              </a:rPr>
              <a:t>资源合理利用</a:t>
            </a:r>
            <a:r>
              <a:rPr lang="en-US" altLang="zh-CN" sz="1400" dirty="0">
                <a:sym typeface="+mn-ea"/>
              </a:rPr>
              <a:t>,</a:t>
            </a:r>
            <a:r>
              <a:rPr lang="zh-CN" altLang="en-US" sz="1400" dirty="0">
                <a:sym typeface="+mn-ea"/>
              </a:rPr>
              <a:t>无信息孤岛。</a:t>
            </a:r>
            <a:endParaRPr lang="zh-CN" altLang="en-US" sz="1400" dirty="0">
              <a:sym typeface="+mn-ea"/>
            </a:endParaRPr>
          </a:p>
        </p:txBody>
      </p:sp>
      <p:pic>
        <p:nvPicPr>
          <p:cNvPr id="12" name="图片 11"/>
          <p:cNvPicPr>
            <a:picLocks noChangeAspect="1"/>
          </p:cNvPicPr>
          <p:nvPr/>
        </p:nvPicPr>
        <p:blipFill>
          <a:blip r:embed="rId2"/>
          <a:stretch>
            <a:fillRect/>
          </a:stretch>
        </p:blipFill>
        <p:spPr>
          <a:xfrm>
            <a:off x="7054215" y="4904740"/>
            <a:ext cx="3304540" cy="1511300"/>
          </a:xfrm>
          <a:prstGeom prst="rect">
            <a:avLst/>
          </a:prstGeom>
        </p:spPr>
      </p:pic>
      <p:pic>
        <p:nvPicPr>
          <p:cNvPr id="13" name="图片 12"/>
          <p:cNvPicPr>
            <a:picLocks noChangeAspect="1"/>
          </p:cNvPicPr>
          <p:nvPr/>
        </p:nvPicPr>
        <p:blipFill>
          <a:blip r:embed="rId3"/>
          <a:stretch>
            <a:fillRect/>
          </a:stretch>
        </p:blipFill>
        <p:spPr>
          <a:xfrm>
            <a:off x="7261225" y="5005705"/>
            <a:ext cx="3359150" cy="1534160"/>
          </a:xfrm>
          <a:prstGeom prst="rect">
            <a:avLst/>
          </a:prstGeom>
        </p:spPr>
      </p:pic>
      <p:pic>
        <p:nvPicPr>
          <p:cNvPr id="19" name="图片 18"/>
          <p:cNvPicPr>
            <a:picLocks noChangeAspect="1"/>
          </p:cNvPicPr>
          <p:nvPr/>
        </p:nvPicPr>
        <p:blipFill>
          <a:blip r:embed="rId4"/>
          <a:stretch>
            <a:fillRect/>
          </a:stretch>
        </p:blipFill>
        <p:spPr>
          <a:xfrm>
            <a:off x="9107170" y="749300"/>
            <a:ext cx="1056640" cy="2291715"/>
          </a:xfrm>
          <a:prstGeom prst="rect">
            <a:avLst/>
          </a:prstGeom>
        </p:spPr>
      </p:pic>
      <p:pic>
        <p:nvPicPr>
          <p:cNvPr id="20" name="图片 19"/>
          <p:cNvPicPr>
            <a:picLocks noChangeAspect="1"/>
          </p:cNvPicPr>
          <p:nvPr/>
        </p:nvPicPr>
        <p:blipFill>
          <a:blip r:embed="rId5"/>
          <a:stretch>
            <a:fillRect/>
          </a:stretch>
        </p:blipFill>
        <p:spPr>
          <a:xfrm>
            <a:off x="7261225" y="749300"/>
            <a:ext cx="1066165" cy="2315210"/>
          </a:xfrm>
          <a:prstGeom prst="rect">
            <a:avLst/>
          </a:prstGeom>
        </p:spPr>
      </p:pic>
      <p:pic>
        <p:nvPicPr>
          <p:cNvPr id="21" name="图片 20"/>
          <p:cNvPicPr>
            <a:picLocks noChangeAspect="1"/>
          </p:cNvPicPr>
          <p:nvPr/>
        </p:nvPicPr>
        <p:blipFill>
          <a:blip r:embed="rId6"/>
          <a:stretch>
            <a:fillRect/>
          </a:stretch>
        </p:blipFill>
        <p:spPr>
          <a:xfrm>
            <a:off x="1167130" y="3064510"/>
            <a:ext cx="3415665" cy="1635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0"/>
            <a:ext cx="10515600" cy="6699885"/>
          </a:xfrm>
        </p:spPr>
        <p:txBody>
          <a:bodyPr>
            <a:normAutofit/>
          </a:bodyPr>
          <a:p>
            <a:pPr marL="0" indent="0" algn="ctr" fontAlgn="auto">
              <a:lnSpc>
                <a:spcPct val="150000"/>
              </a:lnSpc>
              <a:spcBef>
                <a:spcPts val="0"/>
              </a:spcBef>
            </a:pPr>
            <a:r>
              <a:rPr lang="zh-CN" altLang="en-US" sz="2220"/>
              <a:t>公司名称</a:t>
            </a:r>
            <a:br>
              <a:rPr lang="zh-CN" altLang="en-US"/>
            </a:br>
            <a:r>
              <a:rPr lang="zh-CN" altLang="en-US" sz="1780"/>
              <a:t>苏州顺帆信息科技有限公司</a:t>
            </a:r>
            <a:br>
              <a:rPr lang="zh-CN" altLang="en-US"/>
            </a:br>
            <a:r>
              <a:rPr lang="zh-CN" altLang="en-US" sz="2220"/>
              <a:t>公司官网</a:t>
            </a:r>
            <a:br>
              <a:rPr lang="zh-CN" altLang="en-US"/>
            </a:br>
            <a:r>
              <a:rPr lang="en-US" altLang="zh-CN" sz="1600"/>
              <a:t>www.shunfansoft.com</a:t>
            </a:r>
            <a:br>
              <a:rPr lang="en-US" altLang="zh-CN"/>
            </a:br>
            <a:r>
              <a:rPr lang="zh-CN" altLang="en-US" sz="2000"/>
              <a:t>联系电话</a:t>
            </a:r>
            <a:br>
              <a:rPr lang="zh-CN" altLang="en-US"/>
            </a:br>
            <a:r>
              <a:rPr lang="en-US" altLang="zh-CN" sz="1600" dirty="0">
                <a:latin typeface="+mn-ea"/>
                <a:sym typeface="+mn-ea"/>
              </a:rPr>
              <a:t>186 2616 5949</a:t>
            </a:r>
            <a:br>
              <a:rPr lang="zh-CN" altLang="en-US" dirty="0">
                <a:latin typeface="+mn-ea"/>
                <a:sym typeface="+mn-ea"/>
              </a:rPr>
            </a:br>
            <a:r>
              <a:rPr lang="zh-CN" altLang="en-US" sz="2000" dirty="0">
                <a:latin typeface="+mn-ea"/>
                <a:sym typeface="+mn-ea"/>
              </a:rPr>
              <a:t>公司地址</a:t>
            </a:r>
            <a:br>
              <a:rPr lang="zh-CN" altLang="en-US" dirty="0">
                <a:latin typeface="+mn-ea"/>
                <a:sym typeface="+mn-ea"/>
              </a:rPr>
            </a:br>
            <a:r>
              <a:rPr lang="zh-CN" altLang="en-US" sz="1600" dirty="0">
                <a:latin typeface="+mn-ea"/>
                <a:sym typeface="+mn-ea"/>
              </a:rPr>
              <a:t>苏州</a:t>
            </a:r>
            <a:br>
              <a:rPr lang="zh-CN" altLang="en-US" dirty="0">
                <a:latin typeface="+mn-ea"/>
                <a:sym typeface="+mn-ea"/>
              </a:rPr>
            </a:br>
            <a:r>
              <a:rPr lang="zh-CN" altLang="en-US" sz="1600" dirty="0">
                <a:latin typeface="+mn-ea"/>
                <a:sym typeface="+mn-ea"/>
              </a:rPr>
              <a:t>苏州</a:t>
            </a:r>
            <a:r>
              <a:rPr lang="zh-CN" altLang="en-US" sz="1600">
                <a:sym typeface="+mn-ea"/>
              </a:rPr>
              <a:t>吴江科创园云创路512号</a:t>
            </a:r>
            <a:br>
              <a:rPr lang="zh-CN" altLang="en-US" sz="1600">
                <a:sym typeface="+mn-ea"/>
              </a:rPr>
            </a:br>
            <a:br>
              <a:rPr lang="zh-CN" altLang="en-US" sz="1600">
                <a:sym typeface="+mn-ea"/>
              </a:rPr>
            </a:br>
            <a:br>
              <a:rPr lang="zh-CN" altLang="en-US" sz="1600">
                <a:sym typeface="+mn-ea"/>
              </a:rPr>
            </a:br>
            <a:br>
              <a:rPr lang="zh-CN" altLang="en-US"/>
            </a:br>
            <a:endParaRPr lang="zh-CN" altLang="en-US"/>
          </a:p>
        </p:txBody>
      </p:sp>
      <p:pic>
        <p:nvPicPr>
          <p:cNvPr id="4" name="图片 3"/>
          <p:cNvPicPr>
            <a:picLocks noChangeAspect="1"/>
          </p:cNvPicPr>
          <p:nvPr/>
        </p:nvPicPr>
        <p:blipFill>
          <a:blip r:embed="rId1"/>
          <a:stretch>
            <a:fillRect/>
          </a:stretch>
        </p:blipFill>
        <p:spPr>
          <a:xfrm>
            <a:off x="5572125" y="4846955"/>
            <a:ext cx="1047750" cy="1038225"/>
          </a:xfrm>
          <a:prstGeom prst="rect">
            <a:avLst/>
          </a:prstGeom>
        </p:spPr>
      </p:pic>
      <p:sp>
        <p:nvSpPr>
          <p:cNvPr id="5" name="文本框 4"/>
          <p:cNvSpPr txBox="1"/>
          <p:nvPr/>
        </p:nvSpPr>
        <p:spPr>
          <a:xfrm>
            <a:off x="4711065" y="6028055"/>
            <a:ext cx="3860800" cy="829945"/>
          </a:xfrm>
          <a:prstGeom prst="rect">
            <a:avLst/>
          </a:prstGeom>
          <a:noFill/>
        </p:spPr>
        <p:txBody>
          <a:bodyPr wrap="square" rtlCol="0">
            <a:spAutoFit/>
          </a:bodyPr>
          <a:p>
            <a:pPr indent="0" fontAlgn="auto">
              <a:lnSpc>
                <a:spcPct val="150000"/>
              </a:lnSpc>
            </a:pPr>
            <a:r>
              <a:rPr lang="zh-CN" altLang="en-US" sz="1600"/>
              <a:t>扫一扫关注我们，了解更多详情</a:t>
            </a:r>
            <a:endParaRPr lang="zh-CN" altLang="en-US" sz="1600"/>
          </a:p>
          <a:p>
            <a:pPr indent="0" fontAlgn="auto">
              <a:lnSpc>
                <a:spcPct val="150000"/>
              </a:lnSpc>
            </a:pPr>
            <a:r>
              <a:rPr lang="zh-CN" altLang="en-US" sz="1600"/>
              <a:t>官网</a:t>
            </a:r>
            <a:r>
              <a:rPr lang="zh-CN" altLang="en-US" sz="1600"/>
              <a:t>网址：http://www.shunfansoft.com/</a:t>
            </a:r>
            <a:endParaRPr lang="zh-CN" altLang="en-US" sz="1600"/>
          </a:p>
        </p:txBody>
      </p:sp>
    </p:spTree>
  </p:cSld>
  <p:clrMapOvr>
    <a:masterClrMapping/>
  </p:clrMapOvr>
</p:sld>
</file>

<file path=ppt/tags/tag1.xml><?xml version="1.0" encoding="utf-8"?>
<p:tagLst xmlns:p="http://schemas.openxmlformats.org/presentationml/2006/main">
  <p:tag name="commondata" val="eyJoZGlkIjoiNzUxMGE2YzM0OGQ3YTc2ZmI4ZmE5NGNjMzk2ZWUyMDM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1776</Words>
  <Application>WPS 演示</Application>
  <PresentationFormat>宽屏</PresentationFormat>
  <Paragraphs>67</Paragraphs>
  <Slides>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Arial</vt:lpstr>
      <vt:lpstr>宋体</vt:lpstr>
      <vt:lpstr>Wingdings</vt:lpstr>
      <vt:lpstr>微软雅黑</vt:lpstr>
      <vt:lpstr>Calibri</vt:lpstr>
      <vt:lpstr>Arial Unicode MS</vt:lpstr>
      <vt:lpstr>WPS</vt:lpstr>
      <vt:lpstr>苏州顺帆信息科技有限公司</vt:lpstr>
      <vt:lpstr>公司介绍 Company Introduction</vt:lpstr>
      <vt:lpstr>企业文化 Corporate Culture</vt:lpstr>
      <vt:lpstr>产品及业务 Product and Business</vt:lpstr>
      <vt:lpstr>产品及业务 Product and Business</vt:lpstr>
      <vt:lpstr>合作客户 Main Customers</vt:lpstr>
      <vt:lpstr>精选案例 Selected Cases</vt:lpstr>
      <vt:lpstr>公司名称 苏州顺帆信息科技有限公司 公司官网 www.shunfansoft.com 联系电话 186 2616 5949 公司地址 苏州 苏州吴江科创园云创路512号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　</cp:lastModifiedBy>
  <cp:revision>12</cp:revision>
  <dcterms:created xsi:type="dcterms:W3CDTF">2023-08-09T12:44:00Z</dcterms:created>
  <dcterms:modified xsi:type="dcterms:W3CDTF">2024-07-20T08:58:47Z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2052-12.1.0.17133</vt:lpwstr>
  </property>
</Properties>
</file>